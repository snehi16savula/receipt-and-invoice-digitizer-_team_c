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4" r:id="rId8"/>
    <p:sldId id="267" r:id="rId9"/>
    <p:sldId id="268" r:id="rId10"/>
    <p:sldId id="271" r:id="rId11"/>
    <p:sldId id="275" r:id="rId12"/>
    <p:sldId id="277" r:id="rId13"/>
    <p:sldId id="279" r:id="rId14"/>
    <p:sldId id="280" r:id="rId15"/>
    <p:sldId id="281" r:id="rId16"/>
  </p:sldIdLst>
  <p:sldSz cx="18288000" cy="10287000"/>
  <p:notesSz cx="6858000" cy="9144000"/>
  <p:embeddedFontLst>
    <p:embeddedFont>
      <p:font typeface="Agrandir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9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image" Target="../media/image12.GI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image" Target="../media/image8.GIF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3.GIF"/><Relationship Id="rId1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image" Target="../media/image8.GI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3.GIF"/><Relationship Id="rId1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4.GIF"/><Relationship Id="rId1" Type="http://schemas.openxmlformats.org/officeDocument/2006/relationships/image" Target="../media/image3.GIF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GIF"/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image" Target="../media/image20.GIF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GIF"/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image" Target="../media/image20.GIF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GIF"/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image" Target="../media/image2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14400" y="4122411"/>
            <a:ext cx="6894760" cy="1899303"/>
            <a:chOff x="-152400" y="-190500"/>
            <a:chExt cx="9193014" cy="2532404"/>
          </a:xfrm>
        </p:grpSpPr>
        <p:sp>
          <p:nvSpPr>
            <p:cNvPr id="3" name="TextBox 3"/>
            <p:cNvSpPr txBox="1"/>
            <p:nvPr/>
          </p:nvSpPr>
          <p:spPr>
            <a:xfrm>
              <a:off x="-152400" y="-190500"/>
              <a:ext cx="9040614" cy="1435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 </a:t>
              </a:r>
              <a:endParaRPr lang="en-US" sz="6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652506"/>
              <a:ext cx="9040614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813881" y="3928656"/>
            <a:ext cx="10238105" cy="868440"/>
            <a:chOff x="0" y="68741"/>
            <a:chExt cx="13650807" cy="1157920"/>
          </a:xfrm>
        </p:grpSpPr>
        <p:sp>
          <p:nvSpPr>
            <p:cNvPr id="6" name="Freeform 6"/>
            <p:cNvSpPr/>
            <p:nvPr/>
          </p:nvSpPr>
          <p:spPr>
            <a:xfrm>
              <a:off x="0" y="68741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19"/>
                  </a:lnTo>
                  <a:lnTo>
                    <a:pt x="0" y="1157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1634067" y="193040"/>
              <a:ext cx="12016740" cy="8305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Venkata Sai Pranavi -Frontend and   AI Integration  </a:t>
              </a:r>
              <a:endPara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51305" y="43963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  <a:endParaRPr lang="en-US" sz="14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7813881" y="5254866"/>
            <a:ext cx="9041765" cy="868440"/>
            <a:chOff x="0" y="68741"/>
            <a:chExt cx="12055687" cy="1157920"/>
          </a:xfrm>
        </p:grpSpPr>
        <p:sp>
          <p:nvSpPr>
            <p:cNvPr id="10" name="TextBox 10"/>
            <p:cNvSpPr txBox="1"/>
            <p:nvPr/>
          </p:nvSpPr>
          <p:spPr>
            <a:xfrm>
              <a:off x="1634067" y="121920"/>
              <a:ext cx="10421620" cy="8466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Snehitha Savula- UI/Frontend developer</a:t>
              </a:r>
              <a:endPara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68741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19"/>
                  </a:lnTo>
                  <a:lnTo>
                    <a:pt x="0" y="1157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351305" y="43963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  <a:endParaRPr lang="en-US" sz="14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7890081" y="6431280"/>
            <a:ext cx="8778240" cy="868440"/>
            <a:chOff x="0" y="68741"/>
            <a:chExt cx="11704321" cy="1157920"/>
          </a:xfrm>
        </p:grpSpPr>
        <p:sp>
          <p:nvSpPr>
            <p:cNvPr id="14" name="TextBox 14"/>
            <p:cNvSpPr txBox="1"/>
            <p:nvPr/>
          </p:nvSpPr>
          <p:spPr>
            <a:xfrm>
              <a:off x="1634067" y="209974"/>
              <a:ext cx="10070254" cy="86021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Booma Manjunath-Backend Developer</a:t>
              </a:r>
              <a:endPara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68741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19"/>
                  </a:lnTo>
                  <a:lnTo>
                    <a:pt x="0" y="1157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351305" y="43963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  <a:endParaRPr lang="en-US" sz="14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7909766" y="7604761"/>
            <a:ext cx="8477885" cy="868440"/>
            <a:chOff x="0" y="68741"/>
            <a:chExt cx="11303847" cy="1157920"/>
          </a:xfrm>
        </p:grpSpPr>
        <p:sp>
          <p:nvSpPr>
            <p:cNvPr id="18" name="TextBox 18"/>
            <p:cNvSpPr txBox="1"/>
            <p:nvPr/>
          </p:nvSpPr>
          <p:spPr>
            <a:xfrm>
              <a:off x="1634067" y="119381"/>
              <a:ext cx="9669780" cy="107442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Gnana Pravallika-OCR Developer</a:t>
              </a:r>
              <a:endPara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741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19"/>
                  </a:lnTo>
                  <a:lnTo>
                    <a:pt x="0" y="1157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351305" y="439632"/>
              <a:ext cx="421625" cy="34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  <a:endParaRPr lang="en-US" sz="14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7915275" y="8828208"/>
            <a:ext cx="10072370" cy="868439"/>
            <a:chOff x="0" y="68741"/>
            <a:chExt cx="10495116" cy="1157920"/>
          </a:xfrm>
        </p:grpSpPr>
        <p:sp>
          <p:nvSpPr>
            <p:cNvPr id="22" name="TextBox 22"/>
            <p:cNvSpPr txBox="1"/>
            <p:nvPr/>
          </p:nvSpPr>
          <p:spPr>
            <a:xfrm>
              <a:off x="1644204" y="176268"/>
              <a:ext cx="8850912" cy="84666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Kummari Nikhil-Documentation Developer</a:t>
              </a:r>
              <a:endPara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68741"/>
              <a:ext cx="1124235" cy="1157920"/>
            </a:xfrm>
            <a:custGeom>
              <a:avLst/>
              <a:gdLst/>
              <a:ahLst/>
              <a:cxnLst/>
              <a:rect l="l" t="t" r="r" b="b"/>
              <a:pathLst>
                <a:path w="1124235" h="1157920">
                  <a:moveTo>
                    <a:pt x="0" y="0"/>
                  </a:moveTo>
                  <a:lnTo>
                    <a:pt x="1124235" y="0"/>
                  </a:lnTo>
                  <a:lnTo>
                    <a:pt x="1124235" y="1157919"/>
                  </a:lnTo>
                  <a:lnTo>
                    <a:pt x="0" y="1157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351305" y="439632"/>
              <a:ext cx="421625" cy="334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</a:t>
              </a:r>
              <a:endParaRPr lang="en-US" sz="1400" b="1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</p:txBody>
        </p:sp>
      </p:grpSp>
      <p:sp>
        <p:nvSpPr>
          <p:cNvPr id="25" name="Text Box 24"/>
          <p:cNvSpPr txBox="1"/>
          <p:nvPr/>
        </p:nvSpPr>
        <p:spPr>
          <a:xfrm>
            <a:off x="307340" y="1151890"/>
            <a:ext cx="8189595" cy="2220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6600" b="1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Receipt and Invoice Digitizer</a:t>
            </a:r>
            <a:endParaRPr lang="en-US" sz="6600" b="1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endParaRPr lang="en-US" sz="6600" b="1"/>
          </a:p>
        </p:txBody>
      </p:sp>
      <p:sp>
        <p:nvSpPr>
          <p:cNvPr id="27" name="Text Box 26"/>
          <p:cNvSpPr txBox="1"/>
          <p:nvPr/>
        </p:nvSpPr>
        <p:spPr>
          <a:xfrm>
            <a:off x="467995" y="5007610"/>
            <a:ext cx="7153275" cy="2174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600"/>
              <a:t>Infosys Springboard</a:t>
            </a:r>
            <a:endParaRPr lang="en-US" sz="3600"/>
          </a:p>
          <a:p>
            <a:endParaRPr lang="en-US" sz="3600"/>
          </a:p>
          <a:p>
            <a:r>
              <a:rPr lang="en-US" sz="3600"/>
              <a:t>Mentor: Shakthi Gopala Krishnan</a:t>
            </a:r>
            <a:endParaRPr lang="en-US" sz="3600"/>
          </a:p>
        </p:txBody>
      </p:sp>
      <p:sp>
        <p:nvSpPr>
          <p:cNvPr id="28" name="Text Box 27"/>
          <p:cNvSpPr txBox="1"/>
          <p:nvPr/>
        </p:nvSpPr>
        <p:spPr>
          <a:xfrm>
            <a:off x="8733155" y="2476500"/>
            <a:ext cx="6096000" cy="644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6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Project Team</a:t>
            </a:r>
            <a:endParaRPr lang="en-US"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1908" y="737789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Problem Statement</a:t>
            </a:r>
            <a:endParaRPr lang="en-US" sz="7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65935" y="3107055"/>
            <a:ext cx="7136130" cy="63023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indent="-342900" algn="just">
              <a:lnSpc>
                <a:spcPts val="3535"/>
              </a:lnSpc>
              <a:buFont typeface="Arial" panose="020B0604020202090204" pitchFamily="34" charset="0"/>
              <a:buChar char="•"/>
            </a:pPr>
            <a:r>
              <a:rPr lang="en-US" altLang="en-US" sz="2400"/>
              <a:t>Tackles the challenge of managing large volumes of receipts and invoices that are often disorganized.</a:t>
            </a:r>
            <a:endParaRPr lang="en-US" altLang="en-US" sz="2400"/>
          </a:p>
          <a:p>
            <a:pPr marL="342900" indent="-342900" algn="just">
              <a:lnSpc>
                <a:spcPts val="3535"/>
              </a:lnSpc>
              <a:buFont typeface="Arial" panose="020B0604020202090204" pitchFamily="34" charset="0"/>
              <a:buChar char="•"/>
            </a:pPr>
            <a:r>
              <a:rPr lang="en-US" altLang="en-US" sz="2400"/>
              <a:t>Minimizes errors inherent in manual receipt and invoice processing.</a:t>
            </a:r>
            <a:endParaRPr lang="en-US" altLang="en-US" sz="2400"/>
          </a:p>
          <a:p>
            <a:pPr marL="342900" indent="-342900" algn="just">
              <a:lnSpc>
                <a:spcPts val="3535"/>
              </a:lnSpc>
              <a:buFont typeface="Arial" panose="020B0604020202090204" pitchFamily="34" charset="0"/>
              <a:buChar char="•"/>
            </a:pPr>
            <a:r>
              <a:rPr lang="en-US" altLang="en-US" sz="2400"/>
              <a:t>Overcomes inefficiencies of traditional, paper-based methods.</a:t>
            </a:r>
            <a:endParaRPr lang="en-US" altLang="en-US" sz="2400"/>
          </a:p>
          <a:p>
            <a:pPr marL="342900" indent="-342900" algn="just">
              <a:lnSpc>
                <a:spcPts val="3535"/>
              </a:lnSpc>
              <a:buFont typeface="Arial" panose="020B0604020202090204" pitchFamily="34" charset="0"/>
              <a:buChar char="•"/>
            </a:pPr>
            <a:r>
              <a:rPr lang="en-US" altLang="en-US" sz="2400"/>
              <a:t>Introduces a digital platform that automates receipt and invoice handling.</a:t>
            </a:r>
            <a:endParaRPr lang="en-US" altLang="en-US" sz="2400"/>
          </a:p>
          <a:p>
            <a:pPr marL="342900" indent="-342900" algn="just">
              <a:lnSpc>
                <a:spcPts val="3535"/>
              </a:lnSpc>
              <a:buFont typeface="Arial" panose="020B0604020202090204" pitchFamily="34" charset="0"/>
              <a:buChar char="•"/>
            </a:pPr>
            <a:r>
              <a:rPr lang="en-US" altLang="en-US" sz="2400"/>
              <a:t>Provides a structured system for organized storage and easy retrieval.</a:t>
            </a:r>
            <a:endParaRPr lang="en-US" altLang="en-US" sz="2400"/>
          </a:p>
          <a:p>
            <a:pPr marL="342900" indent="-342900" algn="just">
              <a:lnSpc>
                <a:spcPts val="3535"/>
              </a:lnSpc>
              <a:buFont typeface="Arial" panose="020B0604020202090204" pitchFamily="34" charset="0"/>
              <a:buChar char="•"/>
            </a:pPr>
            <a:r>
              <a:rPr lang="en-US" altLang="en-US" sz="2400"/>
              <a:t>Reduces manual workload and streamlines financial tracking.</a:t>
            </a:r>
            <a:endParaRPr lang="en-US" altLang="en-US" sz="2400"/>
          </a:p>
          <a:p>
            <a:pPr marL="342900" indent="-342900" algn="just">
              <a:lnSpc>
                <a:spcPts val="3535"/>
              </a:lnSpc>
              <a:buFont typeface="Arial" panose="020B0604020202090204" pitchFamily="34" charset="0"/>
              <a:buChar char="•"/>
            </a:pPr>
            <a:r>
              <a:rPr lang="en-US" altLang="en-US" sz="2400"/>
              <a:t>Enhances accuracy and reliability in financial recordkeeping.</a:t>
            </a:r>
            <a:endParaRPr lang="en-US" altLang="en-US" sz="240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9829800" y="2400300"/>
            <a:ext cx="4844415" cy="63861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47750" y="2628265"/>
            <a:ext cx="15396845" cy="7755890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00400" y="495300"/>
            <a:ext cx="8816975" cy="17995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000000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Architecture and workflow</a:t>
            </a:r>
            <a:endParaRPr lang="en-US" sz="5500">
              <a:solidFill>
                <a:srgbClr val="000000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0182" y="-190500"/>
            <a:ext cx="14427636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Techstack</a:t>
            </a:r>
            <a:endParaRPr lang="en-US" sz="7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3430" y="0"/>
            <a:ext cx="1191323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2511451" y="1028700"/>
            <a:ext cx="19770751" cy="1826253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281640" y="800073"/>
            <a:ext cx="16237139" cy="2364277"/>
            <a:chOff x="0" y="-541867"/>
            <a:chExt cx="21649519" cy="3152369"/>
          </a:xfrm>
        </p:grpSpPr>
        <p:sp>
          <p:nvSpPr>
            <p:cNvPr id="4" name="TextBox 4"/>
            <p:cNvSpPr txBox="1"/>
            <p:nvPr/>
          </p:nvSpPr>
          <p:spPr>
            <a:xfrm>
              <a:off x="0" y="1921104"/>
              <a:ext cx="16246092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03427" y="-541867"/>
              <a:ext cx="16246092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Landing Page</a:t>
              </a:r>
              <a:endPara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72235" y="2904490"/>
            <a:ext cx="8204200" cy="62198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alt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Serves as the welcoming gateway, setting a clear tone for user interaction.</a:t>
            </a:r>
            <a:endParaRPr lang="en-US" alt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alt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Streamlines access to key areas like About, Sign In, New User registration, Admin, and Contact with intuitive navigation.</a:t>
            </a:r>
            <a:endParaRPr lang="en-US" alt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alt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Empowers users to find and engage with core features effortlessly from a sleek top menu.</a:t>
            </a:r>
            <a:endParaRPr lang="en-US" alt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alt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Balances professionalism with simplicity to create an inviting first impression.</a:t>
            </a:r>
            <a:endParaRPr lang="en-US" alt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457200" indent="-457200" algn="just">
              <a:lnSpc>
                <a:spcPts val="420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alt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Designed to reduce user hesitation and accelerate onboarding to the Receipt &amp; Invoice Digitizer system.</a:t>
            </a:r>
            <a:endParaRPr lang="en-US" alt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9" name="Freeform 4"/>
          <p:cNvSpPr/>
          <p:nvPr/>
        </p:nvSpPr>
        <p:spPr>
          <a:xfrm>
            <a:off x="10744200" y="2705100"/>
            <a:ext cx="6675755" cy="6187440"/>
          </a:xfrm>
          <a:custGeom>
            <a:avLst/>
            <a:gdLst/>
            <a:ahLst/>
            <a:cxnLst/>
            <a:rect l="l" t="t" r="r" b="b"/>
            <a:pathLst>
              <a:path w="10374097" h="6187439">
                <a:moveTo>
                  <a:pt x="0" y="0"/>
                </a:moveTo>
                <a:lnTo>
                  <a:pt x="10374096" y="0"/>
                </a:lnTo>
                <a:lnTo>
                  <a:pt x="10374096" y="6187439"/>
                </a:lnTo>
                <a:lnTo>
                  <a:pt x="0" y="6187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8937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0">
            <a:off x="820497" y="1028700"/>
            <a:ext cx="12277375" cy="2409849"/>
            <a:chOff x="0" y="0"/>
            <a:chExt cx="16369833" cy="3213131"/>
          </a:xfrm>
        </p:grpSpPr>
        <p:sp>
          <p:nvSpPr>
            <p:cNvPr id="5" name="TextBox 5"/>
            <p:cNvSpPr txBox="1"/>
            <p:nvPr/>
          </p:nvSpPr>
          <p:spPr>
            <a:xfrm>
              <a:off x="0" y="-190500"/>
              <a:ext cx="16369833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User and Admin Login Pages</a:t>
              </a:r>
              <a:endPara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700" y="2567760"/>
              <a:ext cx="10306486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2391410"/>
            <a:ext cx="10470515" cy="791400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629285" lvl="1" indent="-314960" algn="just">
              <a:lnSpc>
                <a:spcPts val="4080"/>
              </a:lnSpc>
              <a:buFont typeface="Arial" panose="020B0604020202090204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Secure user authentication system that allows registered users to log in using their email and password.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9285" lvl="1" indent="-314960" algn="just">
              <a:lnSpc>
                <a:spcPts val="4080"/>
              </a:lnSpc>
              <a:buFont typeface="Arial" panose="020B0604020202090204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Provides access to the receipt digitization dashboard after successful login.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9285" lvl="1" indent="-314960" algn="just">
              <a:lnSpc>
                <a:spcPts val="4080"/>
              </a:lnSpc>
              <a:buFont typeface="Arial" panose="020B0604020202090204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Supports Google OAuth login for faster and convenient authentication.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9285" lvl="1" indent="-314960" algn="just">
              <a:lnSpc>
                <a:spcPts val="4080"/>
              </a:lnSpc>
              <a:buFont typeface="Arial" panose="020B0604020202090204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Ensures data security and session management to protect user accounts and stored receipts.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9285" lvl="1" indent="-314960" algn="just">
              <a:lnSpc>
                <a:spcPts val="4080"/>
              </a:lnSpc>
              <a:buFont typeface="Arial" panose="020B0604020202090204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Includes a separate Admin Login that requires a secret admin code to access administrative controls and user management features.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just">
              <a:lnSpc>
                <a:spcPts val="4080"/>
              </a:lnSpc>
              <a:spcBef>
                <a:spcPct val="0"/>
              </a:spcBef>
            </a:pPr>
          </a:p>
        </p:txBody>
      </p:sp>
      <p:sp>
        <p:nvSpPr>
          <p:cNvPr id="8" name="Freeform 4"/>
          <p:cNvSpPr/>
          <p:nvPr/>
        </p:nvSpPr>
        <p:spPr>
          <a:xfrm>
            <a:off x="11046460" y="2471420"/>
            <a:ext cx="7056755" cy="6761480"/>
          </a:xfrm>
          <a:custGeom>
            <a:avLst/>
            <a:gdLst/>
            <a:ahLst/>
            <a:cxnLst/>
            <a:rect l="l" t="t" r="r" b="b"/>
            <a:pathLst>
              <a:path w="11301259" h="6102680">
                <a:moveTo>
                  <a:pt x="0" y="0"/>
                </a:moveTo>
                <a:lnTo>
                  <a:pt x="11301259" y="0"/>
                </a:lnTo>
                <a:lnTo>
                  <a:pt x="11301259" y="6102680"/>
                </a:lnTo>
                <a:lnTo>
                  <a:pt x="0" y="6102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2233311" y="609269"/>
            <a:ext cx="19770751" cy="1826253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543749" y="875343"/>
            <a:ext cx="12184569" cy="1957877"/>
            <a:chOff x="0" y="0"/>
            <a:chExt cx="16246092" cy="2610502"/>
          </a:xfrm>
        </p:grpSpPr>
        <p:sp>
          <p:nvSpPr>
            <p:cNvPr id="4" name="TextBox 4"/>
            <p:cNvSpPr txBox="1"/>
            <p:nvPr/>
          </p:nvSpPr>
          <p:spPr>
            <a:xfrm>
              <a:off x="0" y="1921104"/>
              <a:ext cx="16246092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0"/>
              <a:ext cx="16246092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User Dashboard</a:t>
              </a:r>
              <a:endPara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0" y="2482853"/>
            <a:ext cx="17259300" cy="601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80"/>
              </a:lnSpc>
            </a:p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User Dashboard </a:t>
            </a: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Displays uploaded receipts and extracted details such as merchant, date, total amount, and items.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Shows analytics and visual charts for spending patterns and top merchants.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Allows users to upload new receipt or invoice images for digitization.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Provides a detailed view of each receipt including tax, discounts, and payment method.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Enables users to manage and review their digitized receipts in an organized format.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457200" y="1467485"/>
            <a:ext cx="7668895" cy="7687945"/>
          </a:xfrm>
          <a:custGeom>
            <a:avLst/>
            <a:gdLst/>
            <a:ahLst/>
            <a:cxnLst/>
            <a:rect l="l" t="t" r="r" b="b"/>
            <a:pathLst>
              <a:path w="11301259" h="6017920">
                <a:moveTo>
                  <a:pt x="0" y="0"/>
                </a:moveTo>
                <a:lnTo>
                  <a:pt x="11301259" y="0"/>
                </a:lnTo>
                <a:lnTo>
                  <a:pt x="11301259" y="6017921"/>
                </a:lnTo>
                <a:lnTo>
                  <a:pt x="0" y="6017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0">
            <a:off x="1028700" y="266466"/>
            <a:ext cx="15612120" cy="2175216"/>
            <a:chOff x="0" y="-392007"/>
            <a:chExt cx="20816158" cy="2900288"/>
          </a:xfrm>
        </p:grpSpPr>
        <p:sp>
          <p:nvSpPr>
            <p:cNvPr id="6" name="TextBox 6"/>
            <p:cNvSpPr txBox="1"/>
            <p:nvPr/>
          </p:nvSpPr>
          <p:spPr>
            <a:xfrm>
              <a:off x="10509672" y="-392007"/>
              <a:ext cx="10306486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User Dashboard</a:t>
              </a:r>
              <a:endPara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862910"/>
              <a:ext cx="10306486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</a:p>
          </p:txBody>
        </p:sp>
      </p:grpSp>
      <p:sp>
        <p:nvSpPr>
          <p:cNvPr id="8" name="Freeform 4"/>
          <p:cNvSpPr/>
          <p:nvPr/>
        </p:nvSpPr>
        <p:spPr>
          <a:xfrm>
            <a:off x="8382000" y="2247900"/>
            <a:ext cx="9846310" cy="6906895"/>
          </a:xfrm>
          <a:custGeom>
            <a:avLst/>
            <a:gdLst/>
            <a:ahLst/>
            <a:cxnLst/>
            <a:rect l="l" t="t" r="r" b="b"/>
            <a:pathLst>
              <a:path w="11301259" h="6159186">
                <a:moveTo>
                  <a:pt x="0" y="0"/>
                </a:moveTo>
                <a:lnTo>
                  <a:pt x="11301259" y="0"/>
                </a:lnTo>
                <a:lnTo>
                  <a:pt x="11301259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2233311" y="609269"/>
            <a:ext cx="19770751" cy="1826253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3581589" y="486088"/>
            <a:ext cx="12184569" cy="1957877"/>
            <a:chOff x="0" y="0"/>
            <a:chExt cx="16246092" cy="2610502"/>
          </a:xfrm>
        </p:grpSpPr>
        <p:sp>
          <p:nvSpPr>
            <p:cNvPr id="4" name="TextBox 4"/>
            <p:cNvSpPr txBox="1"/>
            <p:nvPr/>
          </p:nvSpPr>
          <p:spPr>
            <a:xfrm>
              <a:off x="0" y="1921104"/>
              <a:ext cx="16246092" cy="689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0"/>
              <a:ext cx="16246092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Admin Dashboard</a:t>
              </a:r>
              <a:endPara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0" y="2175510"/>
            <a:ext cx="8700135" cy="79400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Displays overall system statistics such as total users and active users.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Provides a complete list of registered users with account details.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Allows admins to monitor user activity and receipt uploads.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Highlights currently active users in the system.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842010" lvl="1" indent="-421005" algn="just">
              <a:lnSpc>
                <a:spcPts val="4680"/>
              </a:lnSpc>
              <a:buFont typeface="Arial" panose="020B0604020202090204"/>
              <a:buChar char="•"/>
            </a:pPr>
            <a:r>
              <a:rPr lang="en-US" sz="3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Enables administrative control and system monitoring through a centralized panel</a:t>
            </a:r>
            <a:endParaRPr lang="en-US" sz="3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just">
              <a:lnSpc>
                <a:spcPts val="4680"/>
              </a:lnSpc>
            </a:pPr>
          </a:p>
        </p:txBody>
      </p:sp>
      <p:sp>
        <p:nvSpPr>
          <p:cNvPr id="9" name="Freeform 4"/>
          <p:cNvSpPr/>
          <p:nvPr/>
        </p:nvSpPr>
        <p:spPr>
          <a:xfrm>
            <a:off x="9124950" y="1900555"/>
            <a:ext cx="9025890" cy="7811770"/>
          </a:xfrm>
          <a:custGeom>
            <a:avLst/>
            <a:gdLst/>
            <a:ahLst/>
            <a:cxnLst/>
            <a:rect l="l" t="t" r="r" b="b"/>
            <a:pathLst>
              <a:path w="11301259" h="6286325">
                <a:moveTo>
                  <a:pt x="0" y="0"/>
                </a:moveTo>
                <a:lnTo>
                  <a:pt x="11301259" y="0"/>
                </a:lnTo>
                <a:lnTo>
                  <a:pt x="11301259" y="6286326"/>
                </a:lnTo>
                <a:lnTo>
                  <a:pt x="0" y="6286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0">
            <a:off x="830022" y="-38100"/>
            <a:ext cx="11700520" cy="2948011"/>
            <a:chOff x="0" y="-1422400"/>
            <a:chExt cx="15600692" cy="3930681"/>
          </a:xfrm>
        </p:grpSpPr>
        <p:sp>
          <p:nvSpPr>
            <p:cNvPr id="5" name="TextBox 5"/>
            <p:cNvSpPr txBox="1"/>
            <p:nvPr/>
          </p:nvSpPr>
          <p:spPr>
            <a:xfrm>
              <a:off x="5294206" y="-1422400"/>
              <a:ext cx="10306486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0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Chatbot</a:t>
              </a:r>
              <a:endPara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862910"/>
              <a:ext cx="10306486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25500" y="6031230"/>
            <a:ext cx="15478760" cy="34315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Functionalities: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457200" indent="-457200" algn="just">
              <a:lnSpc>
                <a:spcPts val="408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AI chatbot allows users to interact with digitized receipt and invoice data.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457200" indent="-457200" algn="just">
              <a:lnSpc>
                <a:spcPts val="408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Users can ask questions like “What does this application do.”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457200" indent="-457200" algn="just">
              <a:lnSpc>
                <a:spcPts val="408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The chatbot processes queries using the Gemini API.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457200" indent="-457200" algn="just">
              <a:lnSpc>
                <a:spcPts val="4080"/>
              </a:lnSpc>
              <a:spcBef>
                <a:spcPct val="0"/>
              </a:spcBef>
              <a:buFont typeface="Arial" panose="020B0604020202090204" pitchFamily="34" charset="0"/>
              <a:buChar char="•"/>
            </a:pPr>
            <a:r>
              <a:rPr lang="en-US" sz="2915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Provides quick, accurate responses to improve user experience.</a:t>
            </a:r>
            <a:endParaRPr lang="en-US" sz="2915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8" name="Freeform 4"/>
          <p:cNvSpPr/>
          <p:nvPr/>
        </p:nvSpPr>
        <p:spPr>
          <a:xfrm>
            <a:off x="1465580" y="1167130"/>
            <a:ext cx="13839825" cy="4629150"/>
          </a:xfrm>
          <a:custGeom>
            <a:avLst/>
            <a:gdLst/>
            <a:ahLst/>
            <a:cxnLst/>
            <a:rect l="l" t="t" r="r" b="b"/>
            <a:pathLst>
              <a:path w="11301259" h="6116806">
                <a:moveTo>
                  <a:pt x="0" y="0"/>
                </a:moveTo>
                <a:lnTo>
                  <a:pt x="11301259" y="0"/>
                </a:lnTo>
                <a:lnTo>
                  <a:pt x="11301259" y="6116806"/>
                </a:lnTo>
                <a:lnTo>
                  <a:pt x="0" y="6116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4736" y="715713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Digitization</a:t>
            </a:r>
            <a:endParaRPr lang="en-US" sz="7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832600" y="2690495"/>
            <a:ext cx="9928225" cy="5386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The system accepts a receipt image uploaded by the user.</a:t>
            </a:r>
            <a:endParaRPr 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OCR (Optical Character Recognition) extracts text from the receipt automatically.</a:t>
            </a:r>
            <a:endParaRPr 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Important details like date, vendor name, total amount, and items are identified.</a:t>
            </a:r>
            <a:endParaRPr 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The extracted data is converted into a structured digital receipt format.</a:t>
            </a:r>
            <a:endParaRPr 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The digitized receipt can be stored, searched, and used for expense tracking.</a:t>
            </a:r>
            <a:endParaRPr lang="en-US" sz="30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  <p:sp>
        <p:nvSpPr>
          <p:cNvPr id="6" name="Freeform 3"/>
          <p:cNvSpPr/>
          <p:nvPr/>
        </p:nvSpPr>
        <p:spPr>
          <a:xfrm>
            <a:off x="838225" y="2400078"/>
            <a:ext cx="5244490" cy="6356958"/>
          </a:xfrm>
          <a:custGeom>
            <a:avLst/>
            <a:gdLst/>
            <a:ahLst/>
            <a:cxnLst/>
            <a:rect l="l" t="t" r="r" b="b"/>
            <a:pathLst>
              <a:path w="5244490" h="6356958">
                <a:moveTo>
                  <a:pt x="0" y="0"/>
                </a:moveTo>
                <a:lnTo>
                  <a:pt x="5244490" y="0"/>
                </a:lnTo>
                <a:lnTo>
                  <a:pt x="524449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2191052" y="-5398543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953174" y="676708"/>
            <a:ext cx="11426189" cy="2520156"/>
            <a:chOff x="0" y="-190500"/>
            <a:chExt cx="15234920" cy="3360208"/>
          </a:xfrm>
        </p:grpSpPr>
        <p:sp>
          <p:nvSpPr>
            <p:cNvPr id="4" name="TextBox 4"/>
            <p:cNvSpPr txBox="1"/>
            <p:nvPr/>
          </p:nvSpPr>
          <p:spPr>
            <a:xfrm>
              <a:off x="2475653" y="-190500"/>
              <a:ext cx="12759267" cy="2179320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Future Enhancements</a:t>
              </a:r>
              <a:endPara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524337"/>
              <a:ext cx="11287299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51882" y="3414770"/>
            <a:ext cx="17736118" cy="401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Database Access for Chatbot – Enable the chatbot to securely query the database to answer user questions about stored receipts, expenses, and transaction history.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Email Verification System – Implement email validation during registration to ensure authentic users and improve account security.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Password Reset via Email – Add a secure password recovery system using email verification links.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Smart Expense Insights – Use AI to provide personalized spending analysis and recommendations based on stored receipt data.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Advanced Anomaly Detection – Detect unusual expenses or duplicate receipts using machine learning techniques.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2632558" y="-5068572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953174" y="723698"/>
            <a:ext cx="11502179" cy="2473167"/>
            <a:chOff x="0" y="-127847"/>
            <a:chExt cx="15336239" cy="3297555"/>
          </a:xfrm>
        </p:grpSpPr>
        <p:sp>
          <p:nvSpPr>
            <p:cNvPr id="4" name="TextBox 4"/>
            <p:cNvSpPr txBox="1"/>
            <p:nvPr/>
          </p:nvSpPr>
          <p:spPr>
            <a:xfrm>
              <a:off x="2577253" y="-127847"/>
              <a:ext cx="12758986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Conclusion</a:t>
              </a:r>
              <a:endParaRPr lang="en-US" sz="70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524337"/>
              <a:ext cx="11287299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51882" y="3414770"/>
            <a:ext cx="17736118" cy="401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The Receipt &amp; Invoice Digitizer successfully automates the process of converting paper receipts into structured digital data using OCR and AI.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Integration of Tesseract OCR and Google Gemini enables accurate text extraction and intelligent data interpretation.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The system provides user and admin dashboards for efficient receipt management, analytics, and system monitoring.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marL="626110" lvl="1" indent="-313055" algn="l">
              <a:lnSpc>
                <a:spcPts val="3480"/>
              </a:lnSpc>
              <a:buFont typeface="Arial" panose="020B0604020202090204"/>
              <a:buChar char="•"/>
            </a:pPr>
            <a:r>
              <a:rPr lang="en-US" sz="2900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rPr>
              <a:t>Overall, the solution improves expense tracking, data organization, and accessibility compared to manual record keeping.</a:t>
            </a:r>
            <a:endParaRPr lang="en-US" sz="2900">
              <a:solidFill>
                <a:srgbClr val="2B2B2B"/>
              </a:solidFill>
              <a:latin typeface="Agrandir" panose="00000500000000000000"/>
              <a:ea typeface="Agrandir" panose="00000500000000000000"/>
              <a:cs typeface="Agrandir" panose="00000500000000000000"/>
              <a:sym typeface="Agrandir" panose="00000500000000000000"/>
            </a:endParaRPr>
          </a:p>
          <a:p>
            <a:pPr algn="l">
              <a:lnSpc>
                <a:spcPts val="348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4911263" y="4219178"/>
            <a:ext cx="8465475" cy="1848644"/>
            <a:chOff x="0" y="0"/>
            <a:chExt cx="11287299" cy="2464859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0"/>
              <a:ext cx="11287299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7000" u="none">
                  <a:solidFill>
                    <a:srgbClr val="2B2B2B"/>
                  </a:solidFill>
                  <a:latin typeface="Agrandir" panose="00000500000000000000"/>
                  <a:ea typeface="Agrandir" panose="00000500000000000000"/>
                  <a:cs typeface="Agrandir" panose="00000500000000000000"/>
                  <a:sym typeface="Agrandir" panose="00000500000000000000"/>
                </a:rPr>
                <a:t>Thank you!</a:t>
              </a:r>
              <a:endParaRPr lang="en-US" sz="7000" u="none">
                <a:solidFill>
                  <a:srgbClr val="2B2B2B"/>
                </a:solidFill>
                <a:latin typeface="Agrandir" panose="00000500000000000000"/>
                <a:ea typeface="Agrandir" panose="00000500000000000000"/>
                <a:cs typeface="Agrandir" panose="00000500000000000000"/>
                <a:sym typeface="Agrandir" panose="000005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819487"/>
              <a:ext cx="11287299" cy="6453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</a:p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4403</Words>
  <Application>WPS Presentation</Application>
  <PresentationFormat>On-screen Show (4:3)</PresentationFormat>
  <Paragraphs>115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SimSun</vt:lpstr>
      <vt:lpstr>Wingdings</vt:lpstr>
      <vt:lpstr>Agrandir</vt:lpstr>
      <vt:lpstr>Agrandir Bold</vt:lpstr>
      <vt:lpstr>Thonburi</vt:lpstr>
      <vt:lpstr>Agrandir Italics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Presentation in Pink Lilac Pastel Blobs Basic Style</dc:title>
  <dc:creator/>
  <cp:lastModifiedBy>Mnk</cp:lastModifiedBy>
  <cp:revision>4</cp:revision>
  <dcterms:created xsi:type="dcterms:W3CDTF">2026-03-26T15:53:22Z</dcterms:created>
  <dcterms:modified xsi:type="dcterms:W3CDTF">2026-03-26T15:53:22Z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7899460D8A3D76C67256C569457B76D2_43</vt:lpwstr>
  </property>
  <property fmtid="{D5CDD505-2E9C-101B-9397-08002B2CF9AE}" pid="3" name="KSOProductBuildVer">
    <vt:lpwstr>1033-12.1.22553.22553</vt:lpwstr>
  </property>
</Properties>
</file>