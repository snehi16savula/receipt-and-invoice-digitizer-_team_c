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281" r:id="rId6"/>
    <p:sldId id="282" r:id="rId7"/>
    <p:sldId id="283" r:id="rId8"/>
    <p:sldId id="284" r:id="rId9"/>
    <p:sldId id="285" r:id="rId10"/>
    <p:sldId id="286" r:id="rId11"/>
    <p:sldId id="287" r:id="rId12"/>
    <p:sldId id="288" r:id="rId13"/>
    <p:sldId id="289" r:id="rId14"/>
    <p:sldId id="290" r:id="rId15"/>
    <p:sldId id="292"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3/5/2026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3/5/2026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3/5/2026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2"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3600" dirty="0"/>
              <a:t>INFOSYS SPRINGBOARD</a:t>
            </a:r>
            <a:br>
              <a:rPr lang="en-US" sz="3600" dirty="0"/>
            </a:br>
            <a:r>
              <a:rPr lang="en-US" sz="3600" dirty="0"/>
              <a:t>MILESTONE-3</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dirty="0">
                <a:solidFill>
                  <a:srgbClr val="5792BA"/>
                </a:solidFill>
              </a:rPr>
              <a:t>TEAM-C</a:t>
            </a:r>
            <a:endParaRPr lang="en-US" sz="2300" dirty="0">
              <a:solidFill>
                <a:srgbClr val="5792BA"/>
              </a:solidFill>
            </a:endParaRPr>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F205-E8A9-4237-8AD2-ABD9BF694F3E}"/>
              </a:ext>
            </a:extLst>
          </p:cNvPr>
          <p:cNvSpPr>
            <a:spLocks noGrp="1"/>
          </p:cNvSpPr>
          <p:nvPr>
            <p:ph type="title"/>
          </p:nvPr>
        </p:nvSpPr>
        <p:spPr>
          <a:xfrm>
            <a:off x="913795" y="609600"/>
            <a:ext cx="10353762" cy="1257300"/>
          </a:xfrm>
        </p:spPr>
        <p:txBody>
          <a:bodyPr>
            <a:normAutofit/>
          </a:bodyPr>
          <a:lstStyle/>
          <a:p>
            <a:r>
              <a:rPr lang="en-IN" dirty="0"/>
              <a:t>Problem Statement</a:t>
            </a:r>
            <a:endParaRPr lang="en-US" dirty="0"/>
          </a:p>
        </p:txBody>
      </p:sp>
      <p:sp>
        <p:nvSpPr>
          <p:cNvPr id="4" name="Content Placeholder 3">
            <a:extLst>
              <a:ext uri="{FF2B5EF4-FFF2-40B4-BE49-F238E27FC236}">
                <a16:creationId xmlns:a16="http://schemas.microsoft.com/office/drawing/2014/main" id="{4F7F5615-43D6-DE3A-ED02-11BBD4FD99C9}"/>
              </a:ext>
            </a:extLst>
          </p:cNvPr>
          <p:cNvSpPr>
            <a:spLocks noGrp="1"/>
          </p:cNvSpPr>
          <p:nvPr>
            <p:ph idx="1"/>
          </p:nvPr>
        </p:nvSpPr>
        <p:spPr/>
        <p:txBody>
          <a:bodyPr/>
          <a:lstStyle/>
          <a:p>
            <a:r>
              <a:rPr lang="en-US" b="1" dirty="0"/>
              <a:t>Manual receipt management problems</a:t>
            </a:r>
            <a:endParaRPr lang="en-US" dirty="0"/>
          </a:p>
          <a:p>
            <a:r>
              <a:rPr lang="en-US" dirty="0"/>
              <a:t>• Time consuming data entry</a:t>
            </a:r>
            <a:br>
              <a:rPr lang="en-US" dirty="0"/>
            </a:br>
            <a:r>
              <a:rPr lang="en-US" dirty="0"/>
              <a:t>• High chances of human error</a:t>
            </a:r>
            <a:br>
              <a:rPr lang="en-US" dirty="0"/>
            </a:br>
            <a:r>
              <a:rPr lang="en-US" dirty="0"/>
              <a:t>• Difficult to track expenses</a:t>
            </a:r>
            <a:br>
              <a:rPr lang="en-US" dirty="0"/>
            </a:br>
            <a:r>
              <a:rPr lang="en-US" dirty="0"/>
              <a:t>• Poor financial visibility</a:t>
            </a:r>
            <a:br>
              <a:rPr lang="en-US" dirty="0"/>
            </a:br>
            <a:r>
              <a:rPr lang="en-US" dirty="0"/>
              <a:t>• Hard to organize large numbers of receipts</a:t>
            </a:r>
          </a:p>
          <a:p>
            <a:endParaRPr lang="en-IN" dirty="0"/>
          </a:p>
        </p:txBody>
      </p:sp>
    </p:spTree>
    <p:extLst>
      <p:ext uri="{BB962C8B-B14F-4D97-AF65-F5344CB8AC3E}">
        <p14:creationId xmlns:p14="http://schemas.microsoft.com/office/powerpoint/2010/main" val="326507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B181-9266-D365-180E-47A5779E6C03}"/>
              </a:ext>
            </a:extLst>
          </p:cNvPr>
          <p:cNvSpPr>
            <a:spLocks noGrp="1"/>
          </p:cNvSpPr>
          <p:nvPr>
            <p:ph type="title"/>
          </p:nvPr>
        </p:nvSpPr>
        <p:spPr/>
        <p:txBody>
          <a:bodyPr/>
          <a:lstStyle/>
          <a:p>
            <a:r>
              <a:rPr lang="en-IN" dirty="0"/>
              <a:t>Solution Overview</a:t>
            </a:r>
          </a:p>
        </p:txBody>
      </p:sp>
      <p:sp>
        <p:nvSpPr>
          <p:cNvPr id="3" name="Content Placeholder 2">
            <a:extLst>
              <a:ext uri="{FF2B5EF4-FFF2-40B4-BE49-F238E27FC236}">
                <a16:creationId xmlns:a16="http://schemas.microsoft.com/office/drawing/2014/main" id="{CAE1FCD5-CEF3-B25A-714D-CE3E6EE2EEF3}"/>
              </a:ext>
            </a:extLst>
          </p:cNvPr>
          <p:cNvSpPr>
            <a:spLocks noGrp="1"/>
          </p:cNvSpPr>
          <p:nvPr>
            <p:ph idx="1"/>
          </p:nvPr>
        </p:nvSpPr>
        <p:spPr/>
        <p:txBody>
          <a:bodyPr/>
          <a:lstStyle/>
          <a:p>
            <a:r>
              <a:rPr lang="en-US" b="1" dirty="0"/>
              <a:t>Our Solution: Receipt &amp; Invoice Digitizer</a:t>
            </a:r>
            <a:endParaRPr lang="en-US" dirty="0"/>
          </a:p>
          <a:p>
            <a:r>
              <a:rPr lang="en-US" dirty="0"/>
              <a:t>• Upload receipts or invoices</a:t>
            </a:r>
            <a:br>
              <a:rPr lang="en-US" dirty="0"/>
            </a:br>
            <a:r>
              <a:rPr lang="en-US" dirty="0"/>
              <a:t>• Extract text using OCR</a:t>
            </a:r>
            <a:br>
              <a:rPr lang="en-US" dirty="0"/>
            </a:br>
            <a:r>
              <a:rPr lang="en-US" dirty="0"/>
              <a:t>• Automatically identify important data</a:t>
            </a:r>
            <a:br>
              <a:rPr lang="en-US" dirty="0"/>
            </a:br>
            <a:r>
              <a:rPr lang="en-US" dirty="0"/>
              <a:t>• Store data in structured database</a:t>
            </a:r>
            <a:br>
              <a:rPr lang="en-US" dirty="0"/>
            </a:br>
            <a:r>
              <a:rPr lang="en-US" dirty="0"/>
              <a:t>• Provide analytics and expense insights</a:t>
            </a:r>
          </a:p>
          <a:p>
            <a:endParaRPr lang="en-IN" dirty="0"/>
          </a:p>
        </p:txBody>
      </p:sp>
    </p:spTree>
    <p:extLst>
      <p:ext uri="{BB962C8B-B14F-4D97-AF65-F5344CB8AC3E}">
        <p14:creationId xmlns:p14="http://schemas.microsoft.com/office/powerpoint/2010/main" val="1581820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1CF5-7A19-7493-6973-7AF1319D67D6}"/>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3952B52C-BE30-18C4-0AE8-13163CFF027D}"/>
              </a:ext>
            </a:extLst>
          </p:cNvPr>
          <p:cNvSpPr>
            <a:spLocks noGrp="1"/>
          </p:cNvSpPr>
          <p:nvPr>
            <p:ph idx="1"/>
          </p:nvPr>
        </p:nvSpPr>
        <p:spPr/>
        <p:txBody>
          <a:bodyPr>
            <a:normAutofit lnSpcReduction="10000"/>
          </a:bodyPr>
          <a:lstStyle/>
          <a:p>
            <a:r>
              <a:rPr lang="en-IN" b="1" dirty="0"/>
              <a:t>Main System Components</a:t>
            </a:r>
            <a:endParaRPr lang="en-IN" dirty="0"/>
          </a:p>
          <a:p>
            <a:r>
              <a:rPr lang="en-IN" dirty="0"/>
              <a:t>User Interface (Upload + Dashboard)</a:t>
            </a:r>
          </a:p>
          <a:p>
            <a:r>
              <a:rPr lang="en-IN" dirty="0"/>
              <a:t>OCR Engine</a:t>
            </a:r>
          </a:p>
          <a:p>
            <a:r>
              <a:rPr lang="en-IN" dirty="0"/>
              <a:t>Data Processing &amp; Extraction</a:t>
            </a:r>
          </a:p>
          <a:p>
            <a:r>
              <a:rPr lang="en-IN" dirty="0"/>
              <a:t>Database Storage</a:t>
            </a:r>
          </a:p>
          <a:p>
            <a:r>
              <a:rPr lang="en-IN" dirty="0"/>
              <a:t>Analytics Dashboard</a:t>
            </a:r>
          </a:p>
          <a:p>
            <a:r>
              <a:rPr lang="en-IN" dirty="0"/>
              <a:t>Admin Management System</a:t>
            </a:r>
          </a:p>
          <a:p>
            <a:endParaRPr lang="en-IN" dirty="0"/>
          </a:p>
        </p:txBody>
      </p:sp>
    </p:spTree>
    <p:extLst>
      <p:ext uri="{BB962C8B-B14F-4D97-AF65-F5344CB8AC3E}">
        <p14:creationId xmlns:p14="http://schemas.microsoft.com/office/powerpoint/2010/main" val="409322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1F59-5842-DD04-A45A-9697ADE71246}"/>
              </a:ext>
            </a:extLst>
          </p:cNvPr>
          <p:cNvSpPr>
            <a:spLocks noGrp="1"/>
          </p:cNvSpPr>
          <p:nvPr>
            <p:ph type="title"/>
          </p:nvPr>
        </p:nvSpPr>
        <p:spPr/>
        <p:txBody>
          <a:bodyPr/>
          <a:lstStyle/>
          <a:p>
            <a:r>
              <a:rPr lang="en-IN" dirty="0"/>
              <a:t>User Authentication Module</a:t>
            </a:r>
          </a:p>
        </p:txBody>
      </p:sp>
      <p:sp>
        <p:nvSpPr>
          <p:cNvPr id="3" name="Content Placeholder 2">
            <a:extLst>
              <a:ext uri="{FF2B5EF4-FFF2-40B4-BE49-F238E27FC236}">
                <a16:creationId xmlns:a16="http://schemas.microsoft.com/office/drawing/2014/main" id="{0138AE48-1739-A466-FD74-88BA2C0E9575}"/>
              </a:ext>
            </a:extLst>
          </p:cNvPr>
          <p:cNvSpPr>
            <a:spLocks noGrp="1"/>
          </p:cNvSpPr>
          <p:nvPr>
            <p:ph idx="1"/>
          </p:nvPr>
        </p:nvSpPr>
        <p:spPr/>
        <p:txBody>
          <a:bodyPr/>
          <a:lstStyle/>
          <a:p>
            <a:r>
              <a:rPr lang="en-US" dirty="0"/>
              <a:t>Secure user login system</a:t>
            </a:r>
            <a:br>
              <a:rPr lang="en-US" dirty="0"/>
            </a:br>
            <a:r>
              <a:rPr lang="en-US" dirty="0"/>
              <a:t>• Email and password authentication</a:t>
            </a:r>
            <a:br>
              <a:rPr lang="en-US" dirty="0"/>
            </a:br>
            <a:r>
              <a:rPr lang="en-US" dirty="0"/>
              <a:t>• Google login support</a:t>
            </a:r>
            <a:br>
              <a:rPr lang="en-US" dirty="0"/>
            </a:br>
            <a:r>
              <a:rPr lang="en-US" dirty="0"/>
              <a:t>• Admin login option</a:t>
            </a:r>
            <a:br>
              <a:rPr lang="en-US" dirty="0"/>
            </a:br>
            <a:r>
              <a:rPr lang="en-US" dirty="0"/>
              <a:t>• Access control for users and admins</a:t>
            </a:r>
            <a:endParaRPr lang="en-IN" dirty="0"/>
          </a:p>
        </p:txBody>
      </p:sp>
    </p:spTree>
    <p:extLst>
      <p:ext uri="{BB962C8B-B14F-4D97-AF65-F5344CB8AC3E}">
        <p14:creationId xmlns:p14="http://schemas.microsoft.com/office/powerpoint/2010/main" val="4073310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4BE4-D5B9-51B3-1EB2-9A4F257136FE}"/>
              </a:ext>
            </a:extLst>
          </p:cNvPr>
          <p:cNvSpPr>
            <a:spLocks noGrp="1"/>
          </p:cNvSpPr>
          <p:nvPr>
            <p:ph type="title"/>
          </p:nvPr>
        </p:nvSpPr>
        <p:spPr/>
        <p:txBody>
          <a:bodyPr/>
          <a:lstStyle/>
          <a:p>
            <a:r>
              <a:rPr lang="en-IN" dirty="0"/>
              <a:t>Login Page</a:t>
            </a:r>
          </a:p>
        </p:txBody>
      </p:sp>
      <p:sp>
        <p:nvSpPr>
          <p:cNvPr id="5" name="Rectangle 2">
            <a:extLst>
              <a:ext uri="{FF2B5EF4-FFF2-40B4-BE49-F238E27FC236}">
                <a16:creationId xmlns:a16="http://schemas.microsoft.com/office/drawing/2014/main" id="{B9C0E872-663F-766D-0FC4-D45D7FB56FC7}"/>
              </a:ext>
            </a:extLst>
          </p:cNvPr>
          <p:cNvSpPr>
            <a:spLocks noGrp="1" noChangeArrowheads="1"/>
          </p:cNvSpPr>
          <p:nvPr>
            <p:ph idx="1"/>
          </p:nvPr>
        </p:nvSpPr>
        <p:spPr bwMode="auto">
          <a:xfrm>
            <a:off x="1178971" y="2335059"/>
            <a:ext cx="418896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Secure login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Email and password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Google sign-in option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Access to both user and admin portals</a:t>
            </a:r>
          </a:p>
        </p:txBody>
      </p:sp>
      <p:pic>
        <p:nvPicPr>
          <p:cNvPr id="7" name="Picture 6">
            <a:extLst>
              <a:ext uri="{FF2B5EF4-FFF2-40B4-BE49-F238E27FC236}">
                <a16:creationId xmlns:a16="http://schemas.microsoft.com/office/drawing/2014/main" id="{C61B55D1-7A76-8ADA-A2DB-5A8ECFFFA653}"/>
              </a:ext>
            </a:extLst>
          </p:cNvPr>
          <p:cNvPicPr>
            <a:picLocks noChangeAspect="1"/>
          </p:cNvPicPr>
          <p:nvPr/>
        </p:nvPicPr>
        <p:blipFill>
          <a:blip r:embed="rId2"/>
          <a:stretch>
            <a:fillRect/>
          </a:stretch>
        </p:blipFill>
        <p:spPr>
          <a:xfrm>
            <a:off x="5724144" y="1915645"/>
            <a:ext cx="6348730" cy="3432046"/>
          </a:xfrm>
          <a:prstGeom prst="rect">
            <a:avLst/>
          </a:prstGeom>
        </p:spPr>
      </p:pic>
    </p:spTree>
    <p:extLst>
      <p:ext uri="{BB962C8B-B14F-4D97-AF65-F5344CB8AC3E}">
        <p14:creationId xmlns:p14="http://schemas.microsoft.com/office/powerpoint/2010/main" val="749250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789CC-2BE0-0AEA-B576-556EED9AC58C}"/>
              </a:ext>
            </a:extLst>
          </p:cNvPr>
          <p:cNvSpPr>
            <a:spLocks noGrp="1"/>
          </p:cNvSpPr>
          <p:nvPr>
            <p:ph type="title"/>
          </p:nvPr>
        </p:nvSpPr>
        <p:spPr/>
        <p:txBody>
          <a:bodyPr/>
          <a:lstStyle/>
          <a:p>
            <a:r>
              <a:rPr lang="en-IN" dirty="0"/>
              <a:t>Admin Login Page</a:t>
            </a:r>
          </a:p>
        </p:txBody>
      </p:sp>
      <p:sp>
        <p:nvSpPr>
          <p:cNvPr id="4" name="Rectangle 1">
            <a:extLst>
              <a:ext uri="{FF2B5EF4-FFF2-40B4-BE49-F238E27FC236}">
                <a16:creationId xmlns:a16="http://schemas.microsoft.com/office/drawing/2014/main" id="{CC8EF53A-D2C3-67D7-E797-67A3235B201F}"/>
              </a:ext>
            </a:extLst>
          </p:cNvPr>
          <p:cNvSpPr>
            <a:spLocks noGrp="1" noChangeArrowheads="1"/>
          </p:cNvSpPr>
          <p:nvPr>
            <p:ph idx="1"/>
          </p:nvPr>
        </p:nvSpPr>
        <p:spPr bwMode="auto">
          <a:xfrm>
            <a:off x="1005839" y="2419871"/>
            <a:ext cx="476377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Dedicated admin login page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administrator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Restricted access for authorized admins only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Manages system operations</a:t>
            </a:r>
          </a:p>
        </p:txBody>
      </p:sp>
      <p:pic>
        <p:nvPicPr>
          <p:cNvPr id="6" name="Picture 5">
            <a:extLst>
              <a:ext uri="{FF2B5EF4-FFF2-40B4-BE49-F238E27FC236}">
                <a16:creationId xmlns:a16="http://schemas.microsoft.com/office/drawing/2014/main" id="{F797EB68-E601-7E73-5BC3-C8E7035AAD65}"/>
              </a:ext>
            </a:extLst>
          </p:cNvPr>
          <p:cNvPicPr>
            <a:picLocks noChangeAspect="1"/>
          </p:cNvPicPr>
          <p:nvPr/>
        </p:nvPicPr>
        <p:blipFill>
          <a:blip r:embed="rId2"/>
          <a:stretch>
            <a:fillRect/>
          </a:stretch>
        </p:blipFill>
        <p:spPr>
          <a:xfrm>
            <a:off x="5312760" y="1581819"/>
            <a:ext cx="6879240" cy="3694362"/>
          </a:xfrm>
          <a:prstGeom prst="rect">
            <a:avLst/>
          </a:prstGeom>
        </p:spPr>
      </p:pic>
    </p:spTree>
    <p:extLst>
      <p:ext uri="{BB962C8B-B14F-4D97-AF65-F5344CB8AC3E}">
        <p14:creationId xmlns:p14="http://schemas.microsoft.com/office/powerpoint/2010/main" val="228975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358CB-5D5D-ADF4-0E4B-9868DADCF36D}"/>
              </a:ext>
            </a:extLst>
          </p:cNvPr>
          <p:cNvSpPr>
            <a:spLocks noGrp="1"/>
          </p:cNvSpPr>
          <p:nvPr>
            <p:ph type="title"/>
          </p:nvPr>
        </p:nvSpPr>
        <p:spPr/>
        <p:txBody>
          <a:bodyPr/>
          <a:lstStyle/>
          <a:p>
            <a:r>
              <a:rPr lang="en-IN" dirty="0"/>
              <a:t>Admin Dashboard</a:t>
            </a:r>
          </a:p>
        </p:txBody>
      </p:sp>
      <p:sp>
        <p:nvSpPr>
          <p:cNvPr id="3" name="Content Placeholder 2">
            <a:extLst>
              <a:ext uri="{FF2B5EF4-FFF2-40B4-BE49-F238E27FC236}">
                <a16:creationId xmlns:a16="http://schemas.microsoft.com/office/drawing/2014/main" id="{B7D981BE-C3FA-59C1-E6E2-556A827C9F13}"/>
              </a:ext>
            </a:extLst>
          </p:cNvPr>
          <p:cNvSpPr>
            <a:spLocks noGrp="1"/>
          </p:cNvSpPr>
          <p:nvPr>
            <p:ph idx="1"/>
          </p:nvPr>
        </p:nvSpPr>
        <p:spPr/>
        <p:txBody>
          <a:bodyPr>
            <a:normAutofit fontScale="70000" lnSpcReduction="20000"/>
          </a:bodyPr>
          <a:lstStyle/>
          <a:p>
            <a:r>
              <a:rPr lang="en-US" dirty="0"/>
              <a:t>Features:</a:t>
            </a:r>
          </a:p>
          <a:p>
            <a:r>
              <a:rPr lang="en-US" dirty="0"/>
              <a:t>Total number of users</a:t>
            </a:r>
          </a:p>
          <a:p>
            <a:r>
              <a:rPr lang="en-US" dirty="0"/>
              <a:t>Total receipts processed</a:t>
            </a:r>
          </a:p>
          <a:p>
            <a:r>
              <a:rPr lang="en-US" dirty="0"/>
              <a:t>Active users monitoring</a:t>
            </a:r>
          </a:p>
          <a:p>
            <a:r>
              <a:rPr lang="en-US" dirty="0"/>
              <a:t>Total transaction amount</a:t>
            </a:r>
          </a:p>
          <a:p>
            <a:r>
              <a:rPr lang="en-US" dirty="0"/>
              <a:t>Average spending per user</a:t>
            </a:r>
          </a:p>
          <a:p>
            <a:r>
              <a:rPr lang="en-US" b="1" dirty="0"/>
              <a:t>Admin Controls</a:t>
            </a:r>
            <a:endParaRPr lang="en-US" dirty="0"/>
          </a:p>
          <a:p>
            <a:r>
              <a:rPr lang="en-US" dirty="0"/>
              <a:t>Promote users to admin</a:t>
            </a:r>
          </a:p>
          <a:p>
            <a:r>
              <a:rPr lang="en-US" dirty="0"/>
              <a:t>Demote admins</a:t>
            </a:r>
          </a:p>
          <a:p>
            <a:r>
              <a:rPr lang="en-US" dirty="0"/>
              <a:t>View user activities</a:t>
            </a:r>
          </a:p>
          <a:p>
            <a:endParaRPr lang="en-IN" dirty="0"/>
          </a:p>
        </p:txBody>
      </p:sp>
      <p:pic>
        <p:nvPicPr>
          <p:cNvPr id="5" name="Picture 4">
            <a:extLst>
              <a:ext uri="{FF2B5EF4-FFF2-40B4-BE49-F238E27FC236}">
                <a16:creationId xmlns:a16="http://schemas.microsoft.com/office/drawing/2014/main" id="{D6914CB4-47A7-B44F-A280-1DA008D6744F}"/>
              </a:ext>
            </a:extLst>
          </p:cNvPr>
          <p:cNvPicPr>
            <a:picLocks noChangeAspect="1"/>
          </p:cNvPicPr>
          <p:nvPr/>
        </p:nvPicPr>
        <p:blipFill>
          <a:blip r:embed="rId2"/>
          <a:stretch>
            <a:fillRect/>
          </a:stretch>
        </p:blipFill>
        <p:spPr>
          <a:xfrm>
            <a:off x="4206240" y="1764229"/>
            <a:ext cx="7802880" cy="4339190"/>
          </a:xfrm>
          <a:prstGeom prst="rect">
            <a:avLst/>
          </a:prstGeom>
        </p:spPr>
      </p:pic>
    </p:spTree>
    <p:extLst>
      <p:ext uri="{BB962C8B-B14F-4D97-AF65-F5344CB8AC3E}">
        <p14:creationId xmlns:p14="http://schemas.microsoft.com/office/powerpoint/2010/main" val="3608780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5A08-A00B-E18A-08E7-1962231752BC}"/>
              </a:ext>
            </a:extLst>
          </p:cNvPr>
          <p:cNvSpPr>
            <a:spLocks noGrp="1"/>
          </p:cNvSpPr>
          <p:nvPr>
            <p:ph type="title"/>
          </p:nvPr>
        </p:nvSpPr>
        <p:spPr/>
        <p:txBody>
          <a:bodyPr/>
          <a:lstStyle/>
          <a:p>
            <a:r>
              <a:rPr lang="en-IN" dirty="0"/>
              <a:t>User Dashboard</a:t>
            </a:r>
          </a:p>
        </p:txBody>
      </p:sp>
      <p:sp>
        <p:nvSpPr>
          <p:cNvPr id="3" name="Content Placeholder 2">
            <a:extLst>
              <a:ext uri="{FF2B5EF4-FFF2-40B4-BE49-F238E27FC236}">
                <a16:creationId xmlns:a16="http://schemas.microsoft.com/office/drawing/2014/main" id="{BADFB373-1036-AB61-111B-179436C0A245}"/>
              </a:ext>
            </a:extLst>
          </p:cNvPr>
          <p:cNvSpPr>
            <a:spLocks noGrp="1"/>
          </p:cNvSpPr>
          <p:nvPr>
            <p:ph idx="1"/>
          </p:nvPr>
        </p:nvSpPr>
        <p:spPr/>
        <p:txBody>
          <a:bodyPr>
            <a:normAutofit fontScale="70000" lnSpcReduction="20000"/>
          </a:bodyPr>
          <a:lstStyle/>
          <a:p>
            <a:r>
              <a:rPr lang="en-US" dirty="0"/>
              <a:t>Features:</a:t>
            </a:r>
          </a:p>
          <a:p>
            <a:r>
              <a:rPr lang="en-US" dirty="0"/>
              <a:t>Upload receipt or invoice</a:t>
            </a:r>
          </a:p>
          <a:p>
            <a:r>
              <a:rPr lang="en-US" dirty="0"/>
              <a:t>Drag and drop image upload</a:t>
            </a:r>
          </a:p>
          <a:p>
            <a:r>
              <a:rPr lang="en-US" dirty="0"/>
              <a:t>Automatic OCR processing</a:t>
            </a:r>
          </a:p>
          <a:p>
            <a:r>
              <a:rPr lang="en-US" dirty="0"/>
              <a:t>Instant data extraction</a:t>
            </a:r>
          </a:p>
          <a:p>
            <a:r>
              <a:rPr lang="en-US" b="1" dirty="0"/>
              <a:t>Key Metrics</a:t>
            </a:r>
            <a:endParaRPr lang="en-US" dirty="0"/>
          </a:p>
          <a:p>
            <a:r>
              <a:rPr lang="en-US" dirty="0"/>
              <a:t>Total amount spent</a:t>
            </a:r>
          </a:p>
          <a:p>
            <a:r>
              <a:rPr lang="en-US" dirty="0"/>
              <a:t>Total receipts uploaded</a:t>
            </a:r>
          </a:p>
          <a:p>
            <a:r>
              <a:rPr lang="en-US" dirty="0"/>
              <a:t>Average receipt value</a:t>
            </a:r>
          </a:p>
          <a:p>
            <a:r>
              <a:rPr lang="en-US" dirty="0"/>
              <a:t>Total tax collected</a:t>
            </a:r>
          </a:p>
          <a:p>
            <a:endParaRPr lang="en-IN" dirty="0"/>
          </a:p>
        </p:txBody>
      </p:sp>
      <p:pic>
        <p:nvPicPr>
          <p:cNvPr id="17" name="Picture 16">
            <a:extLst>
              <a:ext uri="{FF2B5EF4-FFF2-40B4-BE49-F238E27FC236}">
                <a16:creationId xmlns:a16="http://schemas.microsoft.com/office/drawing/2014/main" id="{A1C365B4-7539-04E7-6073-938FA155BC0F}"/>
              </a:ext>
            </a:extLst>
          </p:cNvPr>
          <p:cNvPicPr>
            <a:picLocks noChangeAspect="1"/>
          </p:cNvPicPr>
          <p:nvPr/>
        </p:nvPicPr>
        <p:blipFill>
          <a:blip r:embed="rId2"/>
          <a:stretch>
            <a:fillRect/>
          </a:stretch>
        </p:blipFill>
        <p:spPr>
          <a:xfrm>
            <a:off x="5084064" y="1866900"/>
            <a:ext cx="6833616" cy="3635512"/>
          </a:xfrm>
          <a:prstGeom prst="rect">
            <a:avLst/>
          </a:prstGeom>
        </p:spPr>
      </p:pic>
    </p:spTree>
    <p:extLst>
      <p:ext uri="{BB962C8B-B14F-4D97-AF65-F5344CB8AC3E}">
        <p14:creationId xmlns:p14="http://schemas.microsoft.com/office/powerpoint/2010/main" val="4118125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1B037-ECA9-119D-D7F8-D0406F0CCC13}"/>
              </a:ext>
            </a:extLst>
          </p:cNvPr>
          <p:cNvSpPr>
            <a:spLocks noGrp="1"/>
          </p:cNvSpPr>
          <p:nvPr>
            <p:ph type="title"/>
          </p:nvPr>
        </p:nvSpPr>
        <p:spPr/>
        <p:txBody>
          <a:bodyPr/>
          <a:lstStyle/>
          <a:p>
            <a:r>
              <a:rPr lang="en-IN" dirty="0"/>
              <a:t>Analytics &amp; Insights</a:t>
            </a:r>
          </a:p>
        </p:txBody>
      </p:sp>
      <p:sp>
        <p:nvSpPr>
          <p:cNvPr id="3" name="Content Placeholder 2">
            <a:extLst>
              <a:ext uri="{FF2B5EF4-FFF2-40B4-BE49-F238E27FC236}">
                <a16:creationId xmlns:a16="http://schemas.microsoft.com/office/drawing/2014/main" id="{B874D24B-FDF2-1FE3-DBC0-1CA85A25731A}"/>
              </a:ext>
            </a:extLst>
          </p:cNvPr>
          <p:cNvSpPr>
            <a:spLocks noGrp="1"/>
          </p:cNvSpPr>
          <p:nvPr>
            <p:ph idx="1"/>
          </p:nvPr>
        </p:nvSpPr>
        <p:spPr/>
        <p:txBody>
          <a:bodyPr/>
          <a:lstStyle/>
          <a:p>
            <a:r>
              <a:rPr lang="en-US" dirty="0"/>
              <a:t>The system provides visual insights such as:</a:t>
            </a:r>
          </a:p>
          <a:p>
            <a:r>
              <a:rPr lang="en-US" dirty="0"/>
              <a:t>Monthly spending trends</a:t>
            </a:r>
          </a:p>
          <a:p>
            <a:r>
              <a:rPr lang="en-US" dirty="0"/>
              <a:t>Most purchased items</a:t>
            </a:r>
          </a:p>
          <a:p>
            <a:r>
              <a:rPr lang="en-US" dirty="0"/>
              <a:t>Top merchants</a:t>
            </a:r>
          </a:p>
          <a:p>
            <a:r>
              <a:rPr lang="en-US" dirty="0"/>
              <a:t>Spending by category</a:t>
            </a:r>
          </a:p>
          <a:p>
            <a:r>
              <a:rPr lang="en-US" dirty="0"/>
              <a:t>Payment method analysis</a:t>
            </a:r>
          </a:p>
          <a:p>
            <a:endParaRPr lang="en-IN" dirty="0"/>
          </a:p>
        </p:txBody>
      </p:sp>
      <p:pic>
        <p:nvPicPr>
          <p:cNvPr id="4" name="Picture 3">
            <a:extLst>
              <a:ext uri="{FF2B5EF4-FFF2-40B4-BE49-F238E27FC236}">
                <a16:creationId xmlns:a16="http://schemas.microsoft.com/office/drawing/2014/main" id="{DF0B185D-C90A-B879-9E1F-7FC66CB1C46E}"/>
              </a:ext>
            </a:extLst>
          </p:cNvPr>
          <p:cNvPicPr>
            <a:picLocks noChangeAspect="1"/>
          </p:cNvPicPr>
          <p:nvPr/>
        </p:nvPicPr>
        <p:blipFill>
          <a:blip r:embed="rId2"/>
          <a:stretch>
            <a:fillRect/>
          </a:stretch>
        </p:blipFill>
        <p:spPr>
          <a:xfrm>
            <a:off x="6096000" y="2846499"/>
            <a:ext cx="5593080" cy="3081861"/>
          </a:xfrm>
          <a:prstGeom prst="rect">
            <a:avLst/>
          </a:prstGeom>
        </p:spPr>
      </p:pic>
    </p:spTree>
    <p:extLst>
      <p:ext uri="{BB962C8B-B14F-4D97-AF65-F5344CB8AC3E}">
        <p14:creationId xmlns:p14="http://schemas.microsoft.com/office/powerpoint/2010/main" val="175774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095A-E524-D5C0-2E3F-C068829437DA}"/>
              </a:ext>
            </a:extLst>
          </p:cNvPr>
          <p:cNvSpPr>
            <a:spLocks noGrp="1"/>
          </p:cNvSpPr>
          <p:nvPr>
            <p:ph type="title"/>
          </p:nvPr>
        </p:nvSpPr>
        <p:spPr/>
        <p:txBody>
          <a:bodyPr>
            <a:normAutofit fontScale="90000"/>
          </a:bodyPr>
          <a:lstStyle/>
          <a:p>
            <a:r>
              <a:rPr lang="en-IN" b="1" dirty="0"/>
              <a:t>Technologies Used</a:t>
            </a:r>
            <a:br>
              <a:rPr lang="en-IN" b="1" dirty="0"/>
            </a:br>
            <a:endParaRPr lang="en-IN" dirty="0"/>
          </a:p>
        </p:txBody>
      </p:sp>
      <p:sp>
        <p:nvSpPr>
          <p:cNvPr id="3" name="Content Placeholder 2">
            <a:extLst>
              <a:ext uri="{FF2B5EF4-FFF2-40B4-BE49-F238E27FC236}">
                <a16:creationId xmlns:a16="http://schemas.microsoft.com/office/drawing/2014/main" id="{2941156C-0975-4303-6B9E-B23BF907BC87}"/>
              </a:ext>
            </a:extLst>
          </p:cNvPr>
          <p:cNvSpPr>
            <a:spLocks noGrp="1"/>
          </p:cNvSpPr>
          <p:nvPr>
            <p:ph idx="1"/>
          </p:nvPr>
        </p:nvSpPr>
        <p:spPr/>
        <p:txBody>
          <a:bodyPr>
            <a:normAutofit fontScale="55000" lnSpcReduction="20000"/>
          </a:bodyPr>
          <a:lstStyle/>
          <a:p>
            <a:r>
              <a:rPr lang="en-IN" b="1" dirty="0"/>
              <a:t>Technologies Used</a:t>
            </a:r>
          </a:p>
          <a:p>
            <a:r>
              <a:rPr lang="en-IN" b="1" dirty="0"/>
              <a:t>Frontend</a:t>
            </a:r>
            <a:endParaRPr lang="en-IN" dirty="0"/>
          </a:p>
          <a:p>
            <a:r>
              <a:rPr lang="en-IN" dirty="0"/>
              <a:t>HTML</a:t>
            </a:r>
          </a:p>
          <a:p>
            <a:r>
              <a:rPr lang="en-IN" dirty="0"/>
              <a:t>CSS</a:t>
            </a:r>
          </a:p>
          <a:p>
            <a:r>
              <a:rPr lang="en-IN" dirty="0"/>
              <a:t>JavaScript</a:t>
            </a:r>
          </a:p>
          <a:p>
            <a:r>
              <a:rPr lang="en-IN" b="1" dirty="0"/>
              <a:t>Backend</a:t>
            </a:r>
            <a:endParaRPr lang="en-IN" dirty="0"/>
          </a:p>
          <a:p>
            <a:r>
              <a:rPr lang="en-IN" dirty="0"/>
              <a:t>Python</a:t>
            </a:r>
          </a:p>
          <a:p>
            <a:r>
              <a:rPr lang="en-IN" dirty="0"/>
              <a:t>Flask</a:t>
            </a:r>
          </a:p>
          <a:p>
            <a:r>
              <a:rPr lang="en-IN" b="1" dirty="0"/>
              <a:t>AI Processing</a:t>
            </a:r>
            <a:endParaRPr lang="en-IN" dirty="0"/>
          </a:p>
          <a:p>
            <a:r>
              <a:rPr lang="en-IN" dirty="0"/>
              <a:t>OCR Engine (Tesseract)</a:t>
            </a:r>
          </a:p>
          <a:p>
            <a:r>
              <a:rPr lang="en-IN" b="1" dirty="0"/>
              <a:t>Database</a:t>
            </a:r>
            <a:endParaRPr lang="en-IN" dirty="0"/>
          </a:p>
          <a:p>
            <a:r>
              <a:rPr lang="en-IN" dirty="0"/>
              <a:t>SQLite / MySQL</a:t>
            </a:r>
          </a:p>
          <a:p>
            <a:endParaRPr lang="en-IN" dirty="0"/>
          </a:p>
        </p:txBody>
      </p:sp>
    </p:spTree>
    <p:extLst>
      <p:ext uri="{BB962C8B-B14F-4D97-AF65-F5344CB8AC3E}">
        <p14:creationId xmlns:p14="http://schemas.microsoft.com/office/powerpoint/2010/main" val="4221219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ABAE-6236-BC43-1900-61DBFA1F11E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5DA7DB7-433B-F6C6-C5C8-AD63E133322A}"/>
              </a:ext>
            </a:extLst>
          </p:cNvPr>
          <p:cNvSpPr>
            <a:spLocks noGrp="1"/>
          </p:cNvSpPr>
          <p:nvPr>
            <p:ph idx="1"/>
          </p:nvPr>
        </p:nvSpPr>
        <p:spPr/>
        <p:txBody>
          <a:bodyPr/>
          <a:lstStyle/>
          <a:p>
            <a:pPr marL="36900" indent="0">
              <a:buNone/>
            </a:pPr>
            <a:r>
              <a:rPr lang="en-US" dirty="0"/>
              <a:t>The Receipt &amp; Invoice Digitizer simplifies financial document management by automatically extracting key information from receipts and invoices using OCR technology. The system reduces manual effort, improves accuracy, and organizes financial records efficiently. Through user and admin dashboards, it provides clear insights into spending patterns, transaction history, and system usage. Overall, this platform helps users manage receipts digitally while enabling administrators to monitor and manage the system effectively.</a:t>
            </a:r>
            <a:endParaRPr lang="en-IN" dirty="0"/>
          </a:p>
        </p:txBody>
      </p:sp>
    </p:spTree>
    <p:extLst>
      <p:ext uri="{BB962C8B-B14F-4D97-AF65-F5344CB8AC3E}">
        <p14:creationId xmlns:p14="http://schemas.microsoft.com/office/powerpoint/2010/main" val="3326856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31597-AB28-F766-E38E-A319A1AE13CF}"/>
              </a:ext>
            </a:extLst>
          </p:cNvPr>
          <p:cNvSpPr>
            <a:spLocks noGrp="1"/>
          </p:cNvSpPr>
          <p:nvPr>
            <p:ph type="title"/>
          </p:nvPr>
        </p:nvSpPr>
        <p:spPr/>
        <p:txBody>
          <a:bodyPr/>
          <a:lstStyle/>
          <a:p>
            <a:r>
              <a:rPr lang="en-US" dirty="0"/>
              <a:t>THANK YOU</a:t>
            </a:r>
            <a:endParaRPr lang="en-IN" dirty="0"/>
          </a:p>
        </p:txBody>
      </p:sp>
      <p:sp>
        <p:nvSpPr>
          <p:cNvPr id="3" name="Text Placeholder 2">
            <a:extLst>
              <a:ext uri="{FF2B5EF4-FFF2-40B4-BE49-F238E27FC236}">
                <a16:creationId xmlns:a16="http://schemas.microsoft.com/office/drawing/2014/main" id="{62B9CB92-ED41-7E43-E858-8379A6EAD1E3}"/>
              </a:ext>
            </a:extLst>
          </p:cNvPr>
          <p:cNvSpPr>
            <a:spLocks noGrp="1"/>
          </p:cNvSpPr>
          <p:nvPr>
            <p:ph type="body" sz="half" idx="2"/>
          </p:nvPr>
        </p:nvSpPr>
        <p:spPr/>
        <p:txBody>
          <a:bodyPr/>
          <a:lstStyle/>
          <a:p>
            <a:r>
              <a:rPr lang="en-US" dirty="0"/>
              <a:t>TEAM-C</a:t>
            </a:r>
            <a:endParaRPr lang="en-IN" dirty="0"/>
          </a:p>
        </p:txBody>
      </p:sp>
    </p:spTree>
    <p:extLst>
      <p:ext uri="{BB962C8B-B14F-4D97-AF65-F5344CB8AC3E}">
        <p14:creationId xmlns:p14="http://schemas.microsoft.com/office/powerpoint/2010/main" val="17992568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{AEBE7265-5A4C-47BF-A3EF-CCE78B5EFF54}TF44c8ba04-08d0-4be5-99b0-3ee2a8f0f11401c8fd43_win32-463ac1ec4738</Template>
  <TotalTime>27</TotalTime>
  <Words>372</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Nova</vt:lpstr>
      <vt:lpstr>Arial Nova Light</vt:lpstr>
      <vt:lpstr>Wingdings 2</vt:lpstr>
      <vt:lpstr>SlateVTI</vt:lpstr>
      <vt:lpstr>INFOSYS SPRINGBOARD MILESTONE-3</vt:lpstr>
      <vt:lpstr>Problem Statement</vt:lpstr>
      <vt:lpstr>Solution Overview</vt:lpstr>
      <vt:lpstr>System Architecture</vt:lpstr>
      <vt:lpstr>User Authentication Module</vt:lpstr>
      <vt:lpstr>Login Page</vt:lpstr>
      <vt:lpstr>Admin Login Page</vt:lpstr>
      <vt:lpstr>Admin Dashboard</vt:lpstr>
      <vt:lpstr>User Dashboard</vt:lpstr>
      <vt:lpstr>Analytics &amp; Insights</vt:lpstr>
      <vt:lpstr>Technologies Used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snehithasavula@outlook.com</dc:creator>
  <cp:lastModifiedBy>snehithasavula@outlook.com</cp:lastModifiedBy>
  <cp:revision>1</cp:revision>
  <dcterms:created xsi:type="dcterms:W3CDTF">2026-03-05T12:42:23Z</dcterms:created>
  <dcterms:modified xsi:type="dcterms:W3CDTF">2026-03-05T13:09:38Z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